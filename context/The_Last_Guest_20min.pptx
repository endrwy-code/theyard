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Killer: Chloe. Trap: Ziv. Spine: the camera clock is 15 minutes fast, proved by a wall clock visible inside one of the stills.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g"/><Relationship Id="rId3" Type="http://schemas.openxmlformats.org/officeDocument/2006/relationships/image" Target="../media/image-1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image" Target="../media/image-4-3.jpg"/><Relationship Id="rId4" Type="http://schemas.openxmlformats.org/officeDocument/2006/relationships/image" Target="../media/image-4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960120"/>
            <a:ext cx="10543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ESCAPE ROOM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25880"/>
            <a:ext cx="109087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GUEST</a:t>
            </a:r>
            <a:endParaRPr lang="en-US" sz="6200" dirty="0"/>
          </a:p>
        </p:txBody>
      </p:sp>
      <p:sp>
        <p:nvSpPr>
          <p:cNvPr id="4" name="Shape 2"/>
          <p:cNvSpPr/>
          <p:nvPr/>
        </p:nvSpPr>
        <p:spPr>
          <a:xfrm>
            <a:off x="5545836" y="2487168"/>
            <a:ext cx="1097280" cy="32004"/>
          </a:xfrm>
          <a:prstGeom prst="rect">
            <a:avLst/>
          </a:prstGeom>
          <a:solidFill>
            <a:srgbClr val="B020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69748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B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minutes  ·  one live actor  ·  two zones running at once  ·  one phone</a:t>
            </a:r>
            <a:endParaRPr lang="en-US" sz="1600" dirty="0"/>
          </a:p>
        </p:txBody>
      </p:sp>
      <p:pic>
        <p:nvPicPr>
          <p:cNvPr id="6" name="Image 0" descr="assets/boar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01268" y="3429000"/>
            <a:ext cx="3200400" cy="2148840"/>
          </a:xfrm>
          <a:prstGeom prst="rect">
            <a:avLst/>
          </a:prstGeom>
        </p:spPr>
      </p:pic>
      <p:pic>
        <p:nvPicPr>
          <p:cNvPr id="7" name="Image 1" descr="assets/desk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494276" y="3429000"/>
            <a:ext cx="3200400" cy="2148840"/>
          </a:xfrm>
          <a:prstGeom prst="rect">
            <a:avLst/>
          </a:prstGeom>
        </p:spPr>
      </p:pic>
      <p:pic>
        <p:nvPicPr>
          <p:cNvPr id="8" name="Image 2" descr="assets/cards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987284" y="3429000"/>
            <a:ext cx="320040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41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— The Last Guest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50976"/>
            <a:ext cx="10908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E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died? → When did it really happen? → Who was there at that minute? → Why? → How do we get out?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7360920" cy="1417320"/>
          </a:xfrm>
          <a:prstGeom prst="roundRect">
            <a:avLst>
              <a:gd name="adj" fmla="val 5161"/>
            </a:avLst>
          </a:prstGeom>
          <a:solidFill>
            <a:srgbClr val="F1EFEB"/>
          </a:solidFill>
          <a:ln w="12700">
            <a:solidFill>
              <a:srgbClr val="DCD8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373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0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PREMISE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011680"/>
            <a:ext cx="6903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141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Tonight, Si Hong hosted four people at his flat. At 10:30 PM he collapsed. Whoever found him called for help at 10:33. The police are twenty minutes out — and all four guests say they had already left.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58368" y="322783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B0201C"/>
          </a:solidFill>
          <a:ln w="12700">
            <a:solidFill>
              <a:srgbClr val="B0201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" y="32278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15568" y="320040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 </a:t>
            </a:r>
            <a:pPr indent="0" marL="0">
              <a:buNone/>
            </a:pPr>
            <a:r>
              <a:rPr lang="en-US" sz="1600" dirty="0">
                <a:solidFill>
                  <a:srgbClr val="3F4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it actually happen?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58368" y="37581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B0201C"/>
          </a:solidFill>
          <a:ln w="12700">
            <a:solidFill>
              <a:srgbClr val="B0201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" y="37581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" y="3730752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 </a:t>
            </a:r>
            <a:pPr indent="0" marL="0">
              <a:buNone/>
            </a:pPr>
            <a:r>
              <a:rPr lang="en-US" sz="1600" dirty="0">
                <a:solidFill>
                  <a:srgbClr val="3F4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in the room at that minute?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58368" y="428853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B0201C"/>
          </a:solidFill>
          <a:ln w="12700">
            <a:solidFill>
              <a:srgbClr val="B0201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8368" y="4288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115568" y="4261104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 </a:t>
            </a:r>
            <a:pPr indent="0" marL="0">
              <a:buNone/>
            </a:pPr>
            <a:r>
              <a:rPr lang="en-US" sz="1600" dirty="0">
                <a:solidFill>
                  <a:srgbClr val="3F4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they want him dead?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58368" y="481888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B0201C"/>
          </a:solidFill>
          <a:ln w="12700">
            <a:solidFill>
              <a:srgbClr val="B0201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" y="4818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15568" y="4791456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 </a:t>
            </a:r>
            <a:pPr indent="0" marL="0">
              <a:buNone/>
            </a:pPr>
            <a:r>
              <a:rPr lang="en-US" sz="1600" dirty="0">
                <a:solidFill>
                  <a:srgbClr val="3F4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they do it?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" y="5440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E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write all four onto an arrest warrant. That is the win condition — not the padlock.</a:t>
            </a:r>
            <a:endParaRPr lang="en-US" sz="1350" dirty="0"/>
          </a:p>
        </p:txBody>
      </p:sp>
      <p:pic>
        <p:nvPicPr>
          <p:cNvPr id="20" name="Image 0" descr="assets/sihong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458200" y="1737360"/>
            <a:ext cx="3063240" cy="306324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8458200" y="49377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HONG</a:t>
            </a:r>
            <a:endParaRPr lang="en-US" sz="2000" dirty="0"/>
          </a:p>
        </p:txBody>
      </p:sp>
      <p:sp>
        <p:nvSpPr>
          <p:cNvPr id="22" name="Text 19"/>
          <p:cNvSpPr txBox="1"/>
          <p:nvPr/>
        </p:nvSpPr>
        <p:spPr>
          <a:xfrm>
            <a:off x="8458200" y="528523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E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victim  ·  the host</a:t>
            </a:r>
            <a:endParaRPr lang="en-US" sz="12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E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sacrifice: Sihong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41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spine — the camera clock is wrong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50976"/>
            <a:ext cx="10908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E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fact that links every puzzle. Organisers only.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908792" cy="1371600"/>
          </a:xfrm>
          <a:prstGeom prst="roundRect">
            <a:avLst>
              <a:gd name="adj" fmla="val 5333"/>
            </a:avLst>
          </a:prstGeom>
          <a:solidFill>
            <a:srgbClr val="FBEDEC"/>
          </a:solidFill>
          <a:ln w="12700">
            <a:solidFill>
              <a:srgbClr val="E8C9C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664208"/>
            <a:ext cx="10451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1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camera's clock was never set. It runs </a:t>
            </a:r>
            <a:pPr algn="ctr" indent="0" marL="0">
              <a:buNone/>
            </a:pPr>
            <a:r>
              <a:rPr lang="en-US" sz="2600" b="1" dirty="0">
                <a:solidFill>
                  <a:srgbClr val="B0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minutes fast</a:t>
            </a:r>
            <a:pPr algn="ctr" indent="0" marL="0">
              <a:buNone/>
            </a:pPr>
            <a:r>
              <a:rPr lang="en-US" sz="2600" b="1" dirty="0">
                <a:solidFill>
                  <a:srgbClr val="141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139696"/>
            <a:ext cx="9628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A4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sets them. It's the same reason half the microwaves and car dashboards in the world show the wrong time. Players don't have to guess this — a wall clock is visible inside one of the pictures, and it disagrees with the stamp.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108960"/>
            <a:ext cx="5212080" cy="2377440"/>
          </a:xfrm>
          <a:prstGeom prst="roundRect">
            <a:avLst>
              <a:gd name="adj" fmla="val 3077"/>
            </a:avLst>
          </a:prstGeom>
          <a:solidFill>
            <a:srgbClr val="F1EFEB"/>
          </a:solidFill>
          <a:ln w="12700">
            <a:solidFill>
              <a:srgbClr val="DCD8D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327355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6E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THEY TRUST THE STAMPS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56616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0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ZIV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4169664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F4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Ziv told everyone she left at 9:45. The stamps put her in the kitchen at 10:15 — a twenty-minute lie, right inside the window. Every team accuses her.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51206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36792" y="3108960"/>
            <a:ext cx="5212080" cy="2377440"/>
          </a:xfrm>
          <a:prstGeom prst="roundRect">
            <a:avLst>
              <a:gd name="adj" fmla="val 3077"/>
            </a:avLst>
          </a:prstGeom>
          <a:solidFill>
            <a:srgbClr val="F1EFEB"/>
          </a:solidFill>
          <a:ln w="12700">
            <a:solidFill>
              <a:srgbClr val="DCD8D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11112" y="327355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6E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THEY FIX THE CLOCK FIRST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611112" y="356616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CHLOE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6611112" y="4169664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F4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 15 and the night slides. Ziv was really there 10:00–10:08 — still a liar, but clear of the window. Chloe lands dead centre in it.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6611112" y="51206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566928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E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20 minutes teams won't find the Ziv dead end on their own — so the dispatcher plants it for them at minute 6.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41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Suspects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50976"/>
            <a:ext cx="10908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E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gave a statement. All four went home. None of them are in the room.</a:t>
            </a:r>
            <a:endParaRPr lang="en-US" sz="1500" dirty="0"/>
          </a:p>
        </p:txBody>
      </p:sp>
      <p:pic>
        <p:nvPicPr>
          <p:cNvPr id="4" name="Image 0" descr="assets/ryan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06324" y="1572768"/>
            <a:ext cx="2606040" cy="21945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306324" y="3877056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41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Ryan Tan</a:t>
            </a:r>
            <a:endParaRPr lang="en-US" sz="2100" dirty="0"/>
          </a:p>
        </p:txBody>
      </p:sp>
      <p:sp>
        <p:nvSpPr>
          <p:cNvPr id="6" name="Text 3"/>
          <p:cNvSpPr txBox="1"/>
          <p:nvPr/>
        </p:nvSpPr>
        <p:spPr>
          <a:xfrm>
            <a:off x="306324" y="422452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Friend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306324" y="457200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F4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Argued with Si Hong that night — because Ryan is the one who told him about the money</a:t>
            </a:r>
            <a:endParaRPr lang="en-US" sz="1300" dirty="0"/>
          </a:p>
        </p:txBody>
      </p:sp>
      <p:pic>
        <p:nvPicPr>
          <p:cNvPr id="8" name="Image 1" descr="assets/abel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96412" y="1572768"/>
            <a:ext cx="2606040" cy="21945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296412" y="3877056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41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Abel</a:t>
            </a:r>
            <a:endParaRPr lang="en-US" sz="2100" dirty="0"/>
          </a:p>
        </p:txBody>
      </p:sp>
      <p:sp>
        <p:nvSpPr>
          <p:cNvPr id="10" name="Text 6"/>
          <p:cNvSpPr txBox="1"/>
          <p:nvPr/>
        </p:nvSpPr>
        <p:spPr>
          <a:xfrm>
            <a:off x="3296412" y="422452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Partner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3296412" y="457200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F4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Hong wanted him out of the company. He also brought the dessert</a:t>
            </a:r>
            <a:endParaRPr lang="en-US" sz="1300" dirty="0"/>
          </a:p>
        </p:txBody>
      </p:sp>
      <p:pic>
        <p:nvPicPr>
          <p:cNvPr id="12" name="Image 2" descr="assets/chloe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286500" y="1572768"/>
            <a:ext cx="2606040" cy="21945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286500" y="3877056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41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Chloe</a:t>
            </a:r>
            <a:endParaRPr lang="en-US" sz="2100" dirty="0"/>
          </a:p>
        </p:txBody>
      </p:sp>
      <p:sp>
        <p:nvSpPr>
          <p:cNvPr id="14" name="Text 9"/>
          <p:cNvSpPr txBox="1"/>
          <p:nvPr/>
        </p:nvSpPr>
        <p:spPr>
          <a:xfrm>
            <a:off x="6286500" y="422452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Sister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6286500" y="457200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F4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written out of Si Hong's will, signed 9 AM tomorrow</a:t>
            </a:r>
            <a:endParaRPr lang="en-US" sz="1300" dirty="0"/>
          </a:p>
        </p:txBody>
      </p:sp>
      <p:pic>
        <p:nvPicPr>
          <p:cNvPr id="16" name="Image 3" descr="assets/ziv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276588" y="1572768"/>
            <a:ext cx="2606040" cy="219456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9276588" y="3877056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41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Ziv</a:t>
            </a:r>
            <a:endParaRPr lang="en-US" sz="2100" dirty="0"/>
          </a:p>
        </p:txBody>
      </p:sp>
      <p:sp>
        <p:nvSpPr>
          <p:cNvPr id="18" name="Text 12"/>
          <p:cNvSpPr txBox="1"/>
          <p:nvPr/>
        </p:nvSpPr>
        <p:spPr>
          <a:xfrm>
            <a:off x="9276588" y="422452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Ex-Girlfriend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9276588" y="457200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F4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Says she left at 9:45. The camera says otherwise</a:t>
            </a:r>
            <a:endParaRPr lang="en-US" sz="1300" dirty="0"/>
          </a:p>
        </p:txBody>
      </p:sp>
      <p:sp>
        <p:nvSpPr>
          <p:cNvPr id="20" name="Text 14"/>
          <p:cNvSpPr txBox="1"/>
          <p:nvPr/>
        </p:nvSpPr>
        <p:spPr>
          <a:xfrm>
            <a:off x="640080" y="5870448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them is lying. One of them is guilty. They are not the same person.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41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suspect is for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50976"/>
            <a:ext cx="10908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E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is filler. Each one hands the players something they cannot finish without.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6276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E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SUSPECT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794760" y="16276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E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GIVE THE PLAYERS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16276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E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THEY'RE CLEARED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907792"/>
            <a:ext cx="10908792" cy="10973"/>
          </a:xfrm>
          <a:prstGeom prst="rect">
            <a:avLst/>
          </a:prstGeom>
          <a:solidFill>
            <a:srgbClr val="DCD8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0299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1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Ryan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3794760" y="201168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F4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reason Si Hong knew about the money. He found out and told him — which is why the new will exists at all.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201168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F4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log: one outgoing call, 10:06 to 10:24. Eighteen minutes, taken outside. Covers the whole window.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931920"/>
            <a:ext cx="10908792" cy="10973"/>
          </a:xfrm>
          <a:prstGeom prst="rect">
            <a:avLst/>
          </a:prstGeom>
          <a:solidFill>
            <a:srgbClr val="DCD8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305409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1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Abel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3794760" y="3035808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F4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dessert receipt. Two ordered, one marked NUT FREE. Without it, nobody knows a safe plate ever existed.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138160" y="3035808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F4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stamp 10:20, so really 10:05 — walks out to take a call before the window opens.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956048"/>
            <a:ext cx="10908792" cy="10973"/>
          </a:xfrm>
          <a:prstGeom prst="rect">
            <a:avLst/>
          </a:prstGeom>
          <a:solidFill>
            <a:srgbClr val="DCD8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407822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1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Ziv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3794760" y="4059936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F4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lie. She says 9:45; the camera says 10:15. She is what a guilty person looks like.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8138160" y="4059936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F4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by fixing the clock. Corrected, she was there 10:00–10:08 — before the window.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5029200"/>
            <a:ext cx="10908792" cy="987552"/>
          </a:xfrm>
          <a:prstGeom prst="roundRect">
            <a:avLst>
              <a:gd name="adj" fmla="val 5556"/>
            </a:avLst>
          </a:prstGeom>
          <a:solidFill>
            <a:srgbClr val="EDF4EF"/>
          </a:solidFill>
          <a:ln w="12700">
            <a:solidFill>
              <a:srgbClr val="C3DCC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51023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Chloe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3794760" y="5084064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F4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Motive and opportunity. The will, the missing money, and the kitchen.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8138160" y="5084064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F4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isn't. Corrected stamp 10:12, alone with both plates, inside the window.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6199632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6E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knew about the allergy, so knowing it clears nobody. Only the clock does.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41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room — two zones, two media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50976"/>
            <a:ext cx="10908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E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with a signature is paper. Anything with a timestamp is on the phone.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3429000" cy="3840480"/>
          </a:xfrm>
          <a:prstGeom prst="roundRect">
            <a:avLst>
              <a:gd name="adj" fmla="val 2133"/>
            </a:avLst>
          </a:prstGeom>
          <a:solidFill>
            <a:srgbClr val="F1EFEB"/>
          </a:solidFill>
          <a:ln w="12700">
            <a:solidFill>
              <a:srgbClr val="DCD8D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17830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B0201C"/>
          </a:solidFill>
          <a:ln w="12700">
            <a:solidFill>
              <a:srgbClr val="B0201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6112" y="1783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98448" y="176479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A — the flat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98448" y="210312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B0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395728"/>
            <a:ext cx="2926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F4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dessert plates, one half-eaten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F4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Abel's dessert receipt (two items)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F4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unsigned will + solicitor's letter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F4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Hong's notebook of missing money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F4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Paramedic's preliminary note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F4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EpiPen case on the shelf — empty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F4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kitchen wall clock (correct)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51960" y="1572768"/>
            <a:ext cx="3429000" cy="3840480"/>
          </a:xfrm>
          <a:prstGeom prst="roundRect">
            <a:avLst>
              <a:gd name="adj" fmla="val 2133"/>
            </a:avLst>
          </a:prstGeom>
          <a:solidFill>
            <a:srgbClr val="F1EFEB"/>
          </a:solidFill>
          <a:ln w="12700">
            <a:solidFill>
              <a:srgbClr val="DCD8D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07992" y="17830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B0201C"/>
          </a:solidFill>
          <a:ln w="12700">
            <a:solidFill>
              <a:srgbClr val="B0201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07992" y="1783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910328" y="176479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B — the desk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910328" y="210312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B0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526280" y="2395728"/>
            <a:ext cx="2926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F4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phone, unlocked, in a stand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F4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chat from that night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F4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log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F4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camera stills in Photos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F4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Part-filled timeline board + markers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F4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printed suspect statements</a:t>
            </a:r>
            <a:endParaRPr lang="en-US" sz="1250" dirty="0"/>
          </a:p>
        </p:txBody>
      </p:sp>
      <p:pic>
        <p:nvPicPr>
          <p:cNvPr id="16" name="Image 0" descr="assets/boar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01000" y="1572768"/>
            <a:ext cx="3547872" cy="265176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8001000" y="4370832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split matters</a:t>
            </a:r>
            <a:endParaRPr lang="en-US" sz="1450" dirty="0"/>
          </a:p>
        </p:txBody>
      </p:sp>
      <p:sp>
        <p:nvSpPr>
          <p:cNvPr id="18" name="Text 15"/>
          <p:cNvSpPr txBox="1"/>
          <p:nvPr/>
        </p:nvSpPr>
        <p:spPr>
          <a:xfrm>
            <a:off x="8001000" y="4700016"/>
            <a:ext cx="35478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F4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 has the how and the why but no times. Team B has every time but no idea which minute matters. Neither can name a killer alone — so the merge isn't a rule you impose, it's forced by the evidence.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41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phone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50976"/>
            <a:ext cx="10908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E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belongs to the man who found him. He hands it over, already unlocked — no lock-screen puzzle, no wasted minute.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58368" y="1691640"/>
            <a:ext cx="3602736" cy="2514600"/>
          </a:xfrm>
          <a:prstGeom prst="roundRect">
            <a:avLst>
              <a:gd name="adj" fmla="val 2909"/>
            </a:avLst>
          </a:prstGeom>
          <a:solidFill>
            <a:srgbClr val="F1EFEB"/>
          </a:solidFill>
          <a:ln w="12700">
            <a:solidFill>
              <a:srgbClr val="DCD8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2688" y="185623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0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2139696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group chat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2523744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F4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chatter from that night, timestamped. Buried in it: Ziv's "heading off now, night!" at 9:45 — her lie in her own words. Write 80% filler so it doesn't read as a puzzle sheet.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26280" y="1691640"/>
            <a:ext cx="3602736" cy="2514600"/>
          </a:xfrm>
          <a:prstGeom prst="roundRect">
            <a:avLst>
              <a:gd name="adj" fmla="val 2909"/>
            </a:avLst>
          </a:prstGeom>
          <a:solidFill>
            <a:srgbClr val="F1EFEB"/>
          </a:solidFill>
          <a:ln w="12700">
            <a:solidFill>
              <a:srgbClr val="DCD8D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00600" y="185623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0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800600" y="2139696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call log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2523744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F4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Ryan's outgoing call, 10:06 PM, duration 18:14. The emergency call at 10:33 PM. Both network-timestamped, so both are correct.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394192" y="1691640"/>
            <a:ext cx="3602736" cy="2514600"/>
          </a:xfrm>
          <a:prstGeom prst="roundRect">
            <a:avLst>
              <a:gd name="adj" fmla="val 2909"/>
            </a:avLst>
          </a:prstGeom>
          <a:solidFill>
            <a:srgbClr val="F1EFEB"/>
          </a:solidFill>
          <a:ln w="12700">
            <a:solidFill>
              <a:srgbClr val="DCD8D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68512" y="185623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0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668512" y="2139696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camera stills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668512" y="2523744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F4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off the camera. Each has a stamp burnt into the corner. Still #2 is the one with the wall clock in shot — players must be able to pinch-zoom into it.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58368" y="4407408"/>
            <a:ext cx="5440680" cy="1691640"/>
          </a:xfrm>
          <a:prstGeom prst="roundRect">
            <a:avLst>
              <a:gd name="adj" fmla="val 4324"/>
            </a:avLst>
          </a:prstGeom>
          <a:solidFill>
            <a:srgbClr val="FBEDEC"/>
          </a:solidFill>
          <a:ln w="12700">
            <a:solidFill>
              <a:srgbClr val="E8C9C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457200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0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IT SO IT CANNOT FAIL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4864608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A4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as a local file. No wifi, no server, no loading spinner.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A4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Access (iOS) or screen pinning (Android) so nobody can navigate out.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A4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charge, charger attached, screen timeout off.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A4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Sealed envelope of printed screenshots: IF THE PHONE DIES.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27648" y="4407408"/>
            <a:ext cx="5221224" cy="1691640"/>
          </a:xfrm>
          <a:prstGeom prst="roundRect">
            <a:avLst>
              <a:gd name="adj" fmla="val 4324"/>
            </a:avLst>
          </a:prstGeom>
          <a:solidFill>
            <a:srgbClr val="F1EFEB"/>
          </a:solidFill>
          <a:ln w="12700">
            <a:solidFill>
              <a:srgbClr val="DCD8D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83680" y="4572000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E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TWO DEVICES, NOT ONE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0" y="4864608"/>
            <a:ext cx="4709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F4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phone and ten players means nine people watching one person scroll. Put the same site on a second phone or a tablet at the desk. If you only have one screen, print the four camera stills and keep only the chat and call log digital.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41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begins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50976"/>
            <a:ext cx="10908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E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Lights low. BGM under. One live actor — and he never has to improvise.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6492240" cy="4114800"/>
          </a:xfrm>
          <a:prstGeom prst="roundRect">
            <a:avLst>
              <a:gd name="adj" fmla="val 1778"/>
            </a:avLst>
          </a:prstGeom>
          <a:solidFill>
            <a:srgbClr val="F1EFEB"/>
          </a:solidFill>
          <a:ln w="12700">
            <a:solidFill>
              <a:srgbClr val="DCD8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78308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0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DOOR SLAMS OPEN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148840"/>
            <a:ext cx="5943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spcAft>
                <a:spcPts val="1100"/>
              </a:spcAft>
              <a:buNone/>
            </a:pPr>
            <a:r>
              <a:rPr lang="en-US" sz="1450" i="1" dirty="0">
                <a:solidFill>
                  <a:srgbClr val="141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found him. I already called — they're coming, but they said twenty minutes."</a:t>
            </a:r>
            <a:endParaRPr lang="en-US" sz="1450" dirty="0"/>
          </a:p>
          <a:p>
            <a:pPr indent="0" marL="0">
              <a:lnSpc>
                <a:spcPts val="2100"/>
              </a:lnSpc>
              <a:spcAft>
                <a:spcPts val="1100"/>
              </a:spcAft>
              <a:buNone/>
            </a:pPr>
            <a:r>
              <a:rPr lang="en-US" sz="1450" i="1" dirty="0">
                <a:solidFill>
                  <a:srgbClr val="141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 was fine. He was fine an hour ago."</a:t>
            </a:r>
            <a:endParaRPr lang="en-US" sz="1450" dirty="0"/>
          </a:p>
          <a:p>
            <a:pPr indent="0" marL="0">
              <a:lnSpc>
                <a:spcPts val="2100"/>
              </a:lnSpc>
              <a:spcAft>
                <a:spcPts val="1100"/>
              </a:spcAft>
              <a:buNone/>
            </a:pPr>
            <a:r>
              <a:rPr lang="en-US" sz="1450" i="1" dirty="0">
                <a:solidFill>
                  <a:srgbClr val="141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"Everyone who was here tonight says they'd already gone home. All four of them. That can't be right."</a:t>
            </a:r>
            <a:endParaRPr lang="en-US" sz="1450" dirty="0"/>
          </a:p>
          <a:p>
            <a:pPr indent="0" marL="0">
              <a:lnSpc>
                <a:spcPts val="2100"/>
              </a:lnSpc>
              <a:spcAft>
                <a:spcPts val="1100"/>
              </a:spcAft>
              <a:buNone/>
            </a:pPr>
            <a:r>
              <a:rPr lang="en-US" sz="1450" i="1" dirty="0">
                <a:solidFill>
                  <a:srgbClr val="141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"Here — take my phone. Our group chat's on it, and I pulled the camera pictures onto it. I can't touch anything once they get here."</a:t>
            </a:r>
            <a:endParaRPr lang="en-US" sz="1450" dirty="0"/>
          </a:p>
          <a:p>
            <a:pPr indent="0" marL="0">
              <a:lnSpc>
                <a:spcPts val="2100"/>
              </a:lnSpc>
              <a:spcAft>
                <a:spcPts val="1100"/>
              </a:spcAft>
              <a:buNone/>
            </a:pPr>
            <a:r>
              <a:rPr lang="en-US" sz="1450" i="1" dirty="0">
                <a:solidFill>
                  <a:srgbClr val="141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"Just tell me when it happened. If we know when, we know who."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523036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stays in the room for the whole game, on the phone with the dispatcher.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60920" y="1600200"/>
            <a:ext cx="4187952" cy="4114800"/>
          </a:xfrm>
          <a:prstGeom prst="roundRect">
            <a:avLst>
              <a:gd name="adj" fmla="val 1778"/>
            </a:avLst>
          </a:prstGeom>
          <a:solidFill>
            <a:srgbClr val="141619"/>
          </a:solidFill>
          <a:ln w="12700">
            <a:solidFill>
              <a:srgbClr val="14161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635240" y="181051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9B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TIMER IS REAL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635240" y="21488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20:00</a:t>
            </a:r>
            <a:endParaRPr lang="en-US" sz="6200" dirty="0"/>
          </a:p>
        </p:txBody>
      </p:sp>
      <p:sp>
        <p:nvSpPr>
          <p:cNvPr id="11" name="Text 9"/>
          <p:cNvSpPr txBox="1"/>
          <p:nvPr/>
        </p:nvSpPr>
        <p:spPr>
          <a:xfrm>
            <a:off x="7635240" y="320040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C6C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isn't a voice announcing a rule. It's how long until the police arrive and seal the flat.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C6C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Twenty minutes only works because both zones run at once. Split the group at the door, before anyone starts talking.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41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Puzzle 1 — Two clocks, one picture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98448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7A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 ★★☆☆☆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1691640"/>
            <a:ext cx="9235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F4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camera still has a timestamp burnt into the corner. One of those stills was taken in the kitchen — and the wall clock is in the shot.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43230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B0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STILL #2 — THE KITCHEN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234440" y="2779776"/>
            <a:ext cx="4206240" cy="1737360"/>
          </a:xfrm>
          <a:prstGeom prst="roundRect">
            <a:avLst>
              <a:gd name="adj" fmla="val 4211"/>
            </a:avLst>
          </a:prstGeom>
          <a:solidFill>
            <a:srgbClr val="F1EFEB"/>
          </a:solidFill>
          <a:ln w="12700">
            <a:solidFill>
              <a:srgbClr val="DCD8D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508760" y="29443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6E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Stamped in the corner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32186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camera thinks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352958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6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10:27 PM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405993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internal clock. Never set.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720840" y="2779776"/>
            <a:ext cx="4206240" cy="1737360"/>
          </a:xfrm>
          <a:prstGeom prst="roundRect">
            <a:avLst>
              <a:gd name="adj" fmla="val 4211"/>
            </a:avLst>
          </a:prstGeom>
          <a:solidFill>
            <a:srgbClr val="F1EFEB"/>
          </a:solidFill>
          <a:ln w="12700">
            <a:solidFill>
              <a:srgbClr val="DCD8D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995160" y="29443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6E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wall, in the photo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995160" y="32186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clock in the room says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995160" y="352958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6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10:12 PM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6995160" y="405993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— check it against your own watch.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532120" y="329184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9C9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4600" dirty="0"/>
          </a:p>
        </p:txBody>
      </p:sp>
      <p:sp>
        <p:nvSpPr>
          <p:cNvPr id="17" name="Shape 15"/>
          <p:cNvSpPr/>
          <p:nvPr/>
        </p:nvSpPr>
        <p:spPr>
          <a:xfrm>
            <a:off x="1234440" y="4681728"/>
            <a:ext cx="9692640" cy="1170432"/>
          </a:xfrm>
          <a:prstGeom prst="roundRect">
            <a:avLst>
              <a:gd name="adj" fmla="val 6250"/>
            </a:avLst>
          </a:prstGeom>
          <a:solidFill>
            <a:srgbClr val="FBEDEC"/>
          </a:solidFill>
          <a:ln w="12700">
            <a:solidFill>
              <a:srgbClr val="E8C9C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463040" y="4791456"/>
            <a:ext cx="9235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B0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camera runs 15 minutes fast.  </a:t>
            </a:r>
            <a:pPr algn="ctr" indent="0" marL="0">
              <a:buNone/>
            </a:pPr>
            <a:r>
              <a:rPr lang="en-US" sz="1900" dirty="0">
                <a:solidFill>
                  <a:srgbClr val="6A4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 15 from every stamp on every still.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1737360" y="519379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6A4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needs no technical knowledge at all. It is two clocks in one photograph disagreeing, and a real clock on a real wall the players can walk over and check. Nobody has to be told cameras can be wrong — they can see that this one is.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41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Puzzle 2 — Rebuild the timeline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98448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7A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 ★★★★☆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58368" y="1828800"/>
            <a:ext cx="2615184" cy="3017520"/>
          </a:xfrm>
          <a:prstGeom prst="roundRect">
            <a:avLst>
              <a:gd name="adj" fmla="val 2797"/>
            </a:avLst>
          </a:prstGeom>
          <a:solidFill>
            <a:srgbClr val="F1EFEB"/>
          </a:solidFill>
          <a:ln w="12700">
            <a:solidFill>
              <a:srgbClr val="DCD8D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02996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B0201C"/>
          </a:solidFill>
          <a:ln w="12700">
            <a:solidFill>
              <a:srgbClr val="B0201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0299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48716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41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the collapse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10896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F4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emergency call in the log went out at 10:33. He went down at roughly 10:30. Network time — nobody can argue with it.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00984" y="3218688"/>
            <a:ext cx="237744" cy="237744"/>
          </a:xfrm>
          <a:prstGeom prst="rightArrow">
            <a:avLst/>
          </a:prstGeom>
          <a:solidFill>
            <a:srgbClr val="C9C5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66160" y="1828800"/>
            <a:ext cx="2615184" cy="3017520"/>
          </a:xfrm>
          <a:prstGeom prst="roundRect">
            <a:avLst>
              <a:gd name="adj" fmla="val 2797"/>
            </a:avLst>
          </a:prstGeom>
          <a:solidFill>
            <a:srgbClr val="F1EFEB"/>
          </a:solidFill>
          <a:ln w="12700">
            <a:solidFill>
              <a:srgbClr val="DCD8D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22192" y="202996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B0201C"/>
          </a:solidFill>
          <a:ln w="12700">
            <a:solidFill>
              <a:srgbClr val="B0201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822192" y="20299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822192" y="248716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41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window</a:t>
            </a:r>
            <a:endParaRPr lang="en-US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3822192" y="310896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F4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Paramedic's note: a severe nut reaction starts 10–20 minutes after eating. So he ate it between 10:10 and 10:20.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08776" y="3218688"/>
            <a:ext cx="237744" cy="237744"/>
          </a:xfrm>
          <a:prstGeom prst="rightArrow">
            <a:avLst/>
          </a:prstGeom>
          <a:solidFill>
            <a:srgbClr val="C9C5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73952" y="1828800"/>
            <a:ext cx="2615184" cy="3017520"/>
          </a:xfrm>
          <a:prstGeom prst="roundRect">
            <a:avLst>
              <a:gd name="adj" fmla="val 2797"/>
            </a:avLst>
          </a:prstGeom>
          <a:solidFill>
            <a:srgbClr val="F1EFEB"/>
          </a:solidFill>
          <a:ln w="12700">
            <a:solidFill>
              <a:srgbClr val="DCD8D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29984" y="202996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B0201C"/>
          </a:solidFill>
          <a:ln w="12700">
            <a:solidFill>
              <a:srgbClr val="B0201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729984" y="20299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729984" y="248716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41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stamps as printed</a:t>
            </a:r>
            <a:endParaRPr lang="en-US" sz="1650" dirty="0"/>
          </a:p>
        </p:txBody>
      </p:sp>
      <p:sp>
        <p:nvSpPr>
          <p:cNvPr id="20" name="Text 18"/>
          <p:cNvSpPr txBox="1"/>
          <p:nvPr/>
        </p:nvSpPr>
        <p:spPr>
          <a:xfrm>
            <a:off x="6729984" y="310896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F4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person sits inside that window — Ziv, stamped 10:15, who swore she left at 9:45. Every team stops here.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116568" y="3218688"/>
            <a:ext cx="237744" cy="237744"/>
          </a:xfrm>
          <a:prstGeom prst="rightArrow">
            <a:avLst/>
          </a:prstGeom>
          <a:solidFill>
            <a:srgbClr val="C9C5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81744" y="1828800"/>
            <a:ext cx="2615184" cy="3017520"/>
          </a:xfrm>
          <a:prstGeom prst="roundRect">
            <a:avLst>
              <a:gd name="adj" fmla="val 2797"/>
            </a:avLst>
          </a:prstGeom>
          <a:solidFill>
            <a:srgbClr val="EDF4EF"/>
          </a:solidFill>
          <a:ln w="12700">
            <a:solidFill>
              <a:srgbClr val="C3DC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37776" y="202996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F6B3F"/>
          </a:solidFill>
          <a:ln w="12700">
            <a:solidFill>
              <a:srgbClr val="1F6B3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637776" y="20299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637776" y="248716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41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subtract 15</a:t>
            </a:r>
            <a:endParaRPr lang="en-US" sz="1650" dirty="0"/>
          </a:p>
        </p:txBody>
      </p:sp>
      <p:sp>
        <p:nvSpPr>
          <p:cNvPr id="26" name="Text 24"/>
          <p:cNvSpPr txBox="1"/>
          <p:nvPr/>
        </p:nvSpPr>
        <p:spPr>
          <a:xfrm>
            <a:off x="9637776" y="310896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F4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night slides. Ziv's 10:15 was really 10:00. Chloe's 10:27 was really 10:12 — alone with both plates.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58368" y="5047488"/>
            <a:ext cx="10872216" cy="960120"/>
          </a:xfrm>
          <a:prstGeom prst="roundRect">
            <a:avLst>
              <a:gd name="adj" fmla="val 7619"/>
            </a:avLst>
          </a:prstGeom>
          <a:solidFill>
            <a:srgbClr val="141619"/>
          </a:solidFill>
          <a:ln w="12700">
            <a:solidFill>
              <a:srgbClr val="14161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14400" y="5230368"/>
            <a:ext cx="10360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Chloe was alone with the dessert at 10:12 — inside the window. </a:t>
            </a:r>
            <a:pPr algn="ctr" indent="0" marL="0">
              <a:buNone/>
            </a:pPr>
            <a:r>
              <a:rPr lang="en-US" sz="1500" dirty="0">
                <a:solidFill>
                  <a:srgbClr val="9B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needs the one before it.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41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night, two readings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50976"/>
            <a:ext cx="10908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E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the board with the left column already filled. They only write the right one.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7373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E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257800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20" kern="0" dirty="0">
                <a:solidFill>
                  <a:srgbClr val="B0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CAMERA SAYS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189720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20" kern="0" dirty="0">
                <a:solidFill>
                  <a:srgbClr val="1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HAPPENED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1792" y="2569464"/>
            <a:ext cx="10945368" cy="10973"/>
          </a:xfrm>
          <a:prstGeom prst="rect">
            <a:avLst/>
          </a:prstGeom>
          <a:solidFill>
            <a:srgbClr val="DCD8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084832"/>
            <a:ext cx="4480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Ziv in the kitchen with Si Hong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257800" y="2084832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8A62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10:15 PM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955280" y="2258568"/>
            <a:ext cx="274320" cy="164592"/>
          </a:xfrm>
          <a:prstGeom prst="rightArrow">
            <a:avLst/>
          </a:prstGeom>
          <a:solidFill>
            <a:srgbClr val="C9C5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89720" y="2084832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416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10:00 PM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1792" y="3118104"/>
            <a:ext cx="10945368" cy="10973"/>
          </a:xfrm>
          <a:prstGeom prst="rect">
            <a:avLst/>
          </a:prstGeom>
          <a:solidFill>
            <a:srgbClr val="DCD8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2633472"/>
            <a:ext cx="4480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Abel steps out to take a call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257800" y="2633472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8A62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10:20 PM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955280" y="2807208"/>
            <a:ext cx="274320" cy="164592"/>
          </a:xfrm>
          <a:prstGeom prst="rightArrow">
            <a:avLst/>
          </a:prstGeom>
          <a:solidFill>
            <a:srgbClr val="C9C5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89720" y="2633472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416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10:05 PM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21792" y="3666744"/>
            <a:ext cx="10945368" cy="10973"/>
          </a:xfrm>
          <a:prstGeom prst="rect">
            <a:avLst/>
          </a:prstGeom>
          <a:solidFill>
            <a:srgbClr val="DCD8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3182112"/>
            <a:ext cx="4480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Ziv leaves the flat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257800" y="3182112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8A62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10:23 PM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7955280" y="3355848"/>
            <a:ext cx="274320" cy="164592"/>
          </a:xfrm>
          <a:prstGeom prst="rightArrow">
            <a:avLst/>
          </a:prstGeom>
          <a:solidFill>
            <a:srgbClr val="C9C5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89720" y="3182112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416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10:08 PM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21792" y="3703320"/>
            <a:ext cx="10945368" cy="521208"/>
          </a:xfrm>
          <a:prstGeom prst="roundRect">
            <a:avLst>
              <a:gd name="adj" fmla="val 10526"/>
            </a:avLst>
          </a:prstGeom>
          <a:solidFill>
            <a:srgbClr val="EDF4EF"/>
          </a:solidFill>
          <a:ln w="12700">
            <a:solidFill>
              <a:srgbClr val="C3DCC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2960" y="3730752"/>
            <a:ext cx="4480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Chloe alone with the dessert plates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257800" y="3730752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7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10:27 PM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7955280" y="3904488"/>
            <a:ext cx="274320" cy="164592"/>
          </a:xfrm>
          <a:prstGeom prst="rightArrow">
            <a:avLst/>
          </a:prstGeom>
          <a:solidFill>
            <a:srgbClr val="C9C5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189720" y="3730752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6B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10:12 PM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621792" y="4764024"/>
            <a:ext cx="10945368" cy="10973"/>
          </a:xfrm>
          <a:prstGeom prst="rect">
            <a:avLst/>
          </a:prstGeom>
          <a:solidFill>
            <a:srgbClr val="DCD8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2960" y="4279392"/>
            <a:ext cx="4480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Hong collapses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257800" y="4279392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8A62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10:45 PM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7955280" y="4453128"/>
            <a:ext cx="274320" cy="164592"/>
          </a:xfrm>
          <a:prstGeom prst="rightArrow">
            <a:avLst/>
          </a:prstGeom>
          <a:solidFill>
            <a:srgbClr val="C9C5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189720" y="4279392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416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10:30 PM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621792" y="4956048"/>
            <a:ext cx="5440680" cy="1170432"/>
          </a:xfrm>
          <a:prstGeom prst="roundRect">
            <a:avLst>
              <a:gd name="adj" fmla="val 6250"/>
            </a:avLst>
          </a:prstGeom>
          <a:solidFill>
            <a:srgbClr val="FBEDEC"/>
          </a:solidFill>
          <a:ln w="12700">
            <a:solidFill>
              <a:srgbClr val="E8C9C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68680" y="508406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0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WINDOW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868680" y="535838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6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10:10 – 10:20 PM</a:t>
            </a:r>
            <a:pPr indent="0" marL="0">
              <a:buNone/>
            </a:pPr>
            <a:r>
              <a:rPr lang="en-US" sz="1400" dirty="0">
                <a:solidFill>
                  <a:srgbClr val="6A4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he ate it in here</a:t>
            </a:r>
            <a:endParaRPr lang="en-US" sz="2000" dirty="0"/>
          </a:p>
        </p:txBody>
      </p:sp>
      <p:sp>
        <p:nvSpPr>
          <p:cNvPr id="35" name="Text 33"/>
          <p:cNvSpPr txBox="1"/>
          <p:nvPr/>
        </p:nvSpPr>
        <p:spPr>
          <a:xfrm>
            <a:off x="868680" y="572414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A4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by the collapse time and the reaction onset — not by the camera.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309360" y="4956048"/>
            <a:ext cx="5257800" cy="1170432"/>
          </a:xfrm>
          <a:prstGeom prst="roundRect">
            <a:avLst>
              <a:gd name="adj" fmla="val 6250"/>
            </a:avLst>
          </a:prstGeom>
          <a:solidFill>
            <a:srgbClr val="F1EFEB"/>
          </a:solidFill>
          <a:ln w="12700">
            <a:solidFill>
              <a:srgbClr val="DCD8D2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556248" y="508406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E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 CHECK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6556248" y="5358384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F4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row proves the subtraction. 10:45 minus 15 is 10:30 — three minutes before the emergency call in the log. If that lines up, they know the 15 is right.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41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Puzzle 3 — Motive and method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98448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7A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 ★★★☆☆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58368" y="1810512"/>
            <a:ext cx="5394960" cy="3931920"/>
          </a:xfrm>
          <a:prstGeom prst="roundRect">
            <a:avLst>
              <a:gd name="adj" fmla="val 1860"/>
            </a:avLst>
          </a:prstGeom>
          <a:solidFill>
            <a:srgbClr val="F1EFEB"/>
          </a:solidFill>
          <a:ln w="12700">
            <a:solidFill>
              <a:srgbClr val="DCD8D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0116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B0201C"/>
          </a:solidFill>
          <a:ln w="12700">
            <a:solidFill>
              <a:srgbClr val="B0201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011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9933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450592"/>
            <a:ext cx="4892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F4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Hong had a severe nut allergy. Every person at that table knew it.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F4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Abel's receipt: two desserts ordered at 8:40, one written up as NUT FREE — SH.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F4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plates on the table. The safe one is sitting at the wrong seat.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F4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EpiPen case is on the shelf. Empty, and the pen is nowhere in the flat.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F4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everyone knew about the allergy, knowing it clears nobody. Only the timeline does.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09360" y="1810512"/>
            <a:ext cx="5239512" cy="3931920"/>
          </a:xfrm>
          <a:prstGeom prst="roundRect">
            <a:avLst>
              <a:gd name="adj" fmla="val 1860"/>
            </a:avLst>
          </a:prstGeom>
          <a:solidFill>
            <a:srgbClr val="F1EFEB"/>
          </a:solidFill>
          <a:ln w="12700">
            <a:solidFill>
              <a:srgbClr val="DCD8D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65392" y="20116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B0201C"/>
          </a:solidFill>
          <a:ln w="12700">
            <a:solidFill>
              <a:srgbClr val="B0201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65392" y="2011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976872" y="19933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565392" y="2450592"/>
            <a:ext cx="473659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F4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Ryan found out money was leaving Si Hong's account and told him. That's what the argument was about.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F4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Hong's notebook tracks four months of it, matched to Chloe.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F4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unsigned will on the desk removes her. The solicitor's letter sets the signing for 9:00 AM tomorrow.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565392" y="4407408"/>
            <a:ext cx="4736592" cy="1097280"/>
          </a:xfrm>
          <a:prstGeom prst="roundRect">
            <a:avLst>
              <a:gd name="adj" fmla="val 6667"/>
            </a:avLst>
          </a:prstGeom>
          <a:solidFill>
            <a:srgbClr val="FBEDEC"/>
          </a:solidFill>
          <a:ln w="12700">
            <a:solidFill>
              <a:srgbClr val="E8C9C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784848" y="4553712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B0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he dies tonight, the old will stands. That is why it could not wait until tomorrow.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658368" y="5870448"/>
            <a:ext cx="10872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6E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motive is a deadline. Time isn't just the mechanic here — it's the reason there's a body.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6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answer — the warrant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9264"/>
            <a:ext cx="10908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B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 proves they know WHEN. It does not prove they know who. So the box isn't the exit — it's the paperwork.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899916" y="1536192"/>
            <a:ext cx="960120" cy="1188720"/>
          </a:xfrm>
          <a:prstGeom prst="roundRect">
            <a:avLst>
              <a:gd name="adj" fmla="val 7619"/>
            </a:avLst>
          </a:prstGeom>
          <a:solidFill>
            <a:srgbClr val="23262B"/>
          </a:solidFill>
          <a:ln w="12700">
            <a:solidFill>
              <a:srgbClr val="3A3E4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899916" y="1536192"/>
            <a:ext cx="960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5042916" y="1536192"/>
            <a:ext cx="960120" cy="1188720"/>
          </a:xfrm>
          <a:prstGeom prst="roundRect">
            <a:avLst>
              <a:gd name="adj" fmla="val 7619"/>
            </a:avLst>
          </a:prstGeom>
          <a:solidFill>
            <a:srgbClr val="23262B"/>
          </a:solidFill>
          <a:ln w="12700">
            <a:solidFill>
              <a:srgbClr val="3A3E4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42916" y="1536192"/>
            <a:ext cx="960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6185916" y="1536192"/>
            <a:ext cx="960120" cy="1188720"/>
          </a:xfrm>
          <a:prstGeom prst="roundRect">
            <a:avLst>
              <a:gd name="adj" fmla="val 7619"/>
            </a:avLst>
          </a:prstGeom>
          <a:solidFill>
            <a:srgbClr val="23262B"/>
          </a:solidFill>
          <a:ln w="12700">
            <a:solidFill>
              <a:srgbClr val="3A3E4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185916" y="1536192"/>
            <a:ext cx="960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4800" dirty="0"/>
          </a:p>
        </p:txBody>
      </p:sp>
      <p:sp>
        <p:nvSpPr>
          <p:cNvPr id="10" name="Shape 8"/>
          <p:cNvSpPr/>
          <p:nvPr/>
        </p:nvSpPr>
        <p:spPr>
          <a:xfrm>
            <a:off x="7328916" y="1536192"/>
            <a:ext cx="960120" cy="1188720"/>
          </a:xfrm>
          <a:prstGeom prst="roundRect">
            <a:avLst>
              <a:gd name="adj" fmla="val 7619"/>
            </a:avLst>
          </a:prstGeom>
          <a:solidFill>
            <a:srgbClr val="23262B"/>
          </a:solidFill>
          <a:ln w="12700">
            <a:solidFill>
              <a:srgbClr val="3A3E4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28916" y="1536192"/>
            <a:ext cx="960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48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2834640"/>
            <a:ext cx="10908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minute it actually happened  ·  CLICK  ·  inside the box: a blank arrest warrant and a pen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25196" y="3401568"/>
            <a:ext cx="2615184" cy="1554480"/>
          </a:xfrm>
          <a:prstGeom prst="roundRect">
            <a:avLst>
              <a:gd name="adj" fmla="val 4706"/>
            </a:avLst>
          </a:prstGeom>
          <a:solidFill>
            <a:srgbClr val="1C1F24"/>
          </a:solidFill>
          <a:ln w="12700">
            <a:solidFill>
              <a:srgbClr val="31353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3796" y="3566160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53796" y="3895344"/>
            <a:ext cx="2157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Chloe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332988" y="3401568"/>
            <a:ext cx="2615184" cy="1554480"/>
          </a:xfrm>
          <a:prstGeom prst="roundRect">
            <a:avLst>
              <a:gd name="adj" fmla="val 4706"/>
            </a:avLst>
          </a:prstGeom>
          <a:solidFill>
            <a:srgbClr val="1C1F24"/>
          </a:solidFill>
          <a:ln w="12700">
            <a:solidFill>
              <a:srgbClr val="3135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561588" y="3566160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561588" y="3895344"/>
            <a:ext cx="2157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10:12 PM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240780" y="3401568"/>
            <a:ext cx="2615184" cy="1554480"/>
          </a:xfrm>
          <a:prstGeom prst="roundRect">
            <a:avLst>
              <a:gd name="adj" fmla="val 4706"/>
            </a:avLst>
          </a:prstGeom>
          <a:solidFill>
            <a:srgbClr val="1C1F24"/>
          </a:solidFill>
          <a:ln w="12700">
            <a:solidFill>
              <a:srgbClr val="31353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69380" y="3566160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469380" y="3895344"/>
            <a:ext cx="2157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will was being signed at 9 AM tomorrow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148572" y="3401568"/>
            <a:ext cx="2615184" cy="1554480"/>
          </a:xfrm>
          <a:prstGeom prst="roundRect">
            <a:avLst>
              <a:gd name="adj" fmla="val 4706"/>
            </a:avLst>
          </a:prstGeom>
          <a:solidFill>
            <a:srgbClr val="1C1F24"/>
          </a:solidFill>
          <a:ln w="12700">
            <a:solidFill>
              <a:srgbClr val="31353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377172" y="3566160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9377172" y="3895344"/>
            <a:ext cx="2157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Swapped dessert, nut allergy, EpiPen taken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1463040" y="5138928"/>
            <a:ext cx="9262872" cy="1051560"/>
          </a:xfrm>
          <a:prstGeom prst="roundRect">
            <a:avLst>
              <a:gd name="adj" fmla="val 6957"/>
            </a:avLst>
          </a:prstGeom>
          <a:solidFill>
            <a:srgbClr val="1C1F24"/>
          </a:solidFill>
          <a:ln w="12700">
            <a:solidFill>
              <a:srgbClr val="31353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737360" y="5285232"/>
            <a:ext cx="8714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6C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fill it in and hand it to him. He reads it down the phone to the dispatcher. If it's right, he opens the door — sixty seconds, still inside the fiction, and no Game Master quiz.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41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the room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50976"/>
            <a:ext cx="10908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E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Twenty minutes, ten players, groups back to back. Everything here exists to protect the clock.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58368" y="169164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1EFEB"/>
          </a:solidFill>
          <a:ln w="12700">
            <a:solidFill>
              <a:srgbClr val="DCD8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1856232"/>
            <a:ext cx="3136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0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ACTOR, ZERO IMPROV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176272"/>
            <a:ext cx="31363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F4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stays for the whole game, on the phone with the dispatcher. He never answers a question — he relays one. The GM texts him the line; he reads it off the screen.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480560" y="169164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1EFEB"/>
          </a:solidFill>
          <a:ln w="12700">
            <a:solidFill>
              <a:srgbClr val="DCD8D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18304" y="1856232"/>
            <a:ext cx="3136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0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ZONES, RUN AT ONCE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718304" y="2176272"/>
            <a:ext cx="31363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F4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in the flat, five at the desk. At minute 10 the actor forces the merge: the dispatcher wants one story, not two. Without that line, teams run out of clock.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302752" y="1691640"/>
            <a:ext cx="3246120" cy="2331720"/>
          </a:xfrm>
          <a:prstGeom prst="roundRect">
            <a:avLst>
              <a:gd name="adj" fmla="val 3137"/>
            </a:avLst>
          </a:prstGeom>
          <a:solidFill>
            <a:srgbClr val="F1EFEB"/>
          </a:solidFill>
          <a:ln w="12700">
            <a:solidFill>
              <a:srgbClr val="DCD8D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540496" y="185623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0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 = DISPATCHER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540496" y="2176272"/>
            <a:ext cx="2788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i="1" dirty="0">
                <a:solidFill>
                  <a:srgbClr val="3F4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6 — "They're saying the ex lied about her timings."  (the plant)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i="1" dirty="0">
                <a:solidFill>
                  <a:srgbClr val="3F4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9 — "They're asking whether that clock on the wall matches the pictures."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i="1" dirty="0">
                <a:solidFill>
                  <a:srgbClr val="3F4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14 — "They want a name and a reason, not just a time."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" y="4224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E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8368" y="4553712"/>
            <a:ext cx="2066544" cy="1051560"/>
          </a:xfrm>
          <a:prstGeom prst="roundRect">
            <a:avLst>
              <a:gd name="adj" fmla="val 6957"/>
            </a:avLst>
          </a:prstGeom>
          <a:solidFill>
            <a:srgbClr val="F1EFEB"/>
          </a:solidFill>
          <a:ln w="12700">
            <a:solidFill>
              <a:srgbClr val="DCD8D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68172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07A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0–2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0292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F4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 opens, split at the door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926080" y="4553712"/>
            <a:ext cx="2066544" cy="1051560"/>
          </a:xfrm>
          <a:prstGeom prst="roundRect">
            <a:avLst>
              <a:gd name="adj" fmla="val 6957"/>
            </a:avLst>
          </a:prstGeom>
          <a:solidFill>
            <a:srgbClr val="F1EFEB"/>
          </a:solidFill>
          <a:ln w="12700">
            <a:solidFill>
              <a:srgbClr val="DCD8D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090672" y="468172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07A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2–10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3090672" y="50292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F4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zones in parallel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193792" y="4553712"/>
            <a:ext cx="2066544" cy="1051560"/>
          </a:xfrm>
          <a:prstGeom prst="roundRect">
            <a:avLst>
              <a:gd name="adj" fmla="val 6957"/>
            </a:avLst>
          </a:prstGeom>
          <a:solidFill>
            <a:srgbClr val="F1EFEB"/>
          </a:solidFill>
          <a:ln w="12700">
            <a:solidFill>
              <a:srgbClr val="DCD8D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358384" y="468172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07A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10–13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5358384" y="50292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F4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Merge, forced by the actor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461504" y="4553712"/>
            <a:ext cx="2066544" cy="1051560"/>
          </a:xfrm>
          <a:prstGeom prst="roundRect">
            <a:avLst>
              <a:gd name="adj" fmla="val 6957"/>
            </a:avLst>
          </a:prstGeom>
          <a:solidFill>
            <a:srgbClr val="F1EFEB"/>
          </a:solidFill>
          <a:ln w="12700">
            <a:solidFill>
              <a:srgbClr val="DCD8D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626096" y="468172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07A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13–17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7626096" y="50292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F4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Chloe, prove the minute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729216" y="4553712"/>
            <a:ext cx="2066544" cy="1051560"/>
          </a:xfrm>
          <a:prstGeom prst="roundRect">
            <a:avLst>
              <a:gd name="adj" fmla="val 6957"/>
            </a:avLst>
          </a:prstGeom>
          <a:solidFill>
            <a:srgbClr val="F1EFEB"/>
          </a:solidFill>
          <a:ln w="12700">
            <a:solidFill>
              <a:srgbClr val="DCD8D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893808" y="468172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07A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17–20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9893808" y="50292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F4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1012, fill the warrant, out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58368" y="5870448"/>
            <a:ext cx="10872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E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target: 4 minutes. Swap the plates back · wipe the right column of the board · empty the EpiPen case · reset the lock to 1012 · fresh blank warrant · phone back to the home screen.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2026-09-09T17:49:11Z</dcterms:created>
  <dcterms:modified xsi:type="dcterms:W3CDTF">2026-09-09T17:49:11Z</dcterms:modified>
</cp:coreProperties>
</file>